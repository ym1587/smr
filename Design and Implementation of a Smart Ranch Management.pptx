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  <p:sldId id="274" r:id="rId4"/>
    <p:sldId id="275" r:id="rId5"/>
    <p:sldId id="270" r:id="rId6"/>
    <p:sldId id="278" r:id="rId7"/>
    <p:sldId id="279" r:id="rId8"/>
    <p:sldId id="265" r:id="rId9"/>
    <p:sldId id="280" r:id="rId10"/>
    <p:sldId id="262" r:id="rId11"/>
    <p:sldId id="281" r:id="rId12"/>
    <p:sldId id="28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-420" y="-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70361-44E0-24B7-CA83-CC55309FD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0B82EC-7C0A-127C-C4FB-3E6CF02A7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61C08-A606-6A4B-A4F0-8709F8273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A7A2-6FD8-40AF-87BE-DCCA8DDC85B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0BEB4-D143-ED11-23DC-A934C1FDF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C3DE5-5AD4-6825-9E09-9168CC598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6454-E306-4DD6-A089-88CC69E0C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31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07E50-A998-7C91-4B5D-06284568F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E088C-B108-CC88-8F44-65DD63C5D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256AF-0243-3376-E3EC-457D4343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A7A2-6FD8-40AF-87BE-DCCA8DDC85B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9995C-2146-DCEB-C700-4808C5CC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E3413-0F82-55C1-2812-5A1820FB2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6454-E306-4DD6-A089-88CC69E0C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01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1827C-592E-1102-A66E-F1323FAD1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5D383-38C0-C332-D084-FB0578594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2D677-B209-D1E3-17B0-4E1643908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A7A2-6FD8-40AF-87BE-DCCA8DDC85B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ADEE6-98B6-821B-B68B-EEBD35B0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91D6D-A5CC-A56C-8D20-EECCCA806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6454-E306-4DD6-A089-88CC69E0C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9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386AD-766E-0321-1291-EEA2CDE7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6D27B-E6DD-686F-D9A1-4F8061BE7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AE314-2DC4-588B-E8D2-837685872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3DE26-98C1-9560-0BBB-0EF7E070E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A7A2-6FD8-40AF-87BE-DCCA8DDC85B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67AC8-E7E3-F205-84A7-236C3CFE3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82DC5-56E2-65E7-578C-C499A4329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6454-E306-4DD6-A089-88CC69E0C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3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9299A-2384-61E7-965B-4993A05C3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E07DF-9178-908B-B1D1-FB440B7CB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060C8-EF0F-EC88-A084-B91A72510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5BDC36-1129-F254-4F93-690DF2881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FD4FE4-8AED-73B6-951F-938927EF7A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0CADC-550A-61B4-E5CC-EECB09855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A7A2-6FD8-40AF-87BE-DCCA8DDC85B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01F642-8AA3-5CA9-5C1C-80E104E16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6C56EB-9115-A686-FA97-814C7EA57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6454-E306-4DD6-A089-88CC69E0C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06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8FAE4-E431-3219-95D1-27AE152D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AB0811-DF39-3168-6F0D-79503A6D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A7A2-6FD8-40AF-87BE-DCCA8DDC85B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E228E-C5DF-53DE-2017-4512C9AE0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B7FC4-52DE-5BB4-6244-7C73F630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6454-E306-4DD6-A089-88CC69E0C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78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0AF20-B25F-EC40-8C48-16DD4D17B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A7A2-6FD8-40AF-87BE-DCCA8DDC85B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0A1AF1-31CC-EF2F-EE52-998C9F339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03571-5DB0-ED61-30E0-CC9722A7B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6454-E306-4DD6-A089-88CC69E0C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7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4A212-B3E7-E6A2-1F04-1745B79E1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5FE16-AC7A-FF5D-6922-29210FBD9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32CA9-EAF8-13EC-AF48-45E3AE707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F7308-B249-6662-9AD9-AC1AC738D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A7A2-6FD8-40AF-87BE-DCCA8DDC85B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6A385-06AD-FFDE-104E-EE86C96B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91453-574E-2534-A177-B9D9BD309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6454-E306-4DD6-A089-88CC69E0C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39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12146-D840-7986-2FF3-AC16679E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18E00D-FD81-1723-44F7-4F4D56083A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A4A0-568B-203D-4818-0F3F0801B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C4EBA-BE0B-BB7F-D9EB-24D5A3AF7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A7A2-6FD8-40AF-87BE-DCCA8DDC85B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42928-0C87-3DE1-34E4-A35138B67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6087C-4144-0836-7296-E60A7FD0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6454-E306-4DD6-A089-88CC69E0C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81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8800-0132-7B85-D197-3C5903D2C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0EB65-6EE4-6D11-050E-CFB8D3A59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49295-89EA-44D5-DB88-E928EFD43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A7A2-6FD8-40AF-87BE-DCCA8DDC85B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92A47-FE52-F842-582E-A5BBBBEC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D2675-752F-8FA2-D1BF-91D413339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6454-E306-4DD6-A089-88CC69E0C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90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2909ED-80F7-25B1-A3D8-B1B842D9A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C9AF4-9779-9914-D2C2-F17329A02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CD1C9-BD96-26AC-8F4E-3D25C47C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A7A2-6FD8-40AF-87BE-DCCA8DDC85B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D2D8F-1BA0-E93D-7560-C58FB1CB1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118EF-1028-2412-C47C-ED58D3078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6454-E306-4DD6-A089-88CC69E0C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64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8F0D72-48D5-C70F-8FE0-52AC014A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974EA-2557-F219-E3BF-45ADCAC84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88916-E5FA-2C72-002A-08E6B5467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FA7A2-6FD8-40AF-87BE-DCCA8DDC85B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2B65C-21A0-3736-235E-07FD3E8FD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59C63-9912-E29B-5375-3DEFBC953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B6454-E306-4DD6-A089-88CC69E0C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17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0D55FF-6751-9C53-303D-C63EB76B76C5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SMART RANCH MANAGEMENT SYSTEM</a:t>
            </a:r>
          </a:p>
          <a:p>
            <a:r>
              <a:rPr lang="en-US" sz="2400" dirty="0"/>
              <a:t>For Kenyan Smallholder Farmers in Ranch or animal </a:t>
            </a:r>
            <a:r>
              <a:rPr lang="en-US" sz="2400"/>
              <a:t>keeping business.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PROBLEM: </a:t>
            </a:r>
            <a:r>
              <a:rPr lang="en-US" sz="2400" dirty="0"/>
              <a:t>78% of Kenya's agriculture depends on smallholders struggling with:</a:t>
            </a:r>
          </a:p>
          <a:p>
            <a:r>
              <a:rPr lang="en-US" sz="2400" dirty="0"/>
              <a:t>• Manual record-keeping → poor tracking (health , weight , feeding, finances, production[milk ,meat, manure],breeding ,expenses (</a:t>
            </a:r>
            <a:r>
              <a:rPr lang="en-US" sz="2400" dirty="0" err="1"/>
              <a:t>PnL</a:t>
            </a:r>
            <a:r>
              <a:rPr lang="en-US" sz="2400" dirty="0"/>
              <a:t>) </a:t>
            </a:r>
          </a:p>
          <a:p>
            <a:r>
              <a:rPr lang="en-US" sz="2400" dirty="0"/>
              <a:t>• No health monitoring → delayed interventions</a:t>
            </a:r>
          </a:p>
          <a:p>
            <a:r>
              <a:rPr lang="en-US" sz="2400" dirty="0"/>
              <a:t>• No financial oversight → low profitability</a:t>
            </a:r>
          </a:p>
          <a:p>
            <a:r>
              <a:rPr lang="en-US" sz="2400" b="1" dirty="0"/>
              <a:t>Consequences:</a:t>
            </a:r>
            <a:endParaRPr lang="en-US" sz="2400" dirty="0"/>
          </a:p>
          <a:p>
            <a:pPr lvl="1"/>
            <a:r>
              <a:rPr lang="en-US" sz="2400" dirty="0"/>
              <a:t>Inaccurate expense tracking</a:t>
            </a:r>
          </a:p>
          <a:p>
            <a:pPr lvl="1"/>
            <a:r>
              <a:rPr lang="en-US" sz="2400" dirty="0"/>
              <a:t>Poor health monitoring</a:t>
            </a:r>
          </a:p>
          <a:p>
            <a:pPr lvl="1"/>
            <a:r>
              <a:rPr lang="en-US" sz="2400" dirty="0"/>
              <a:t>No data-driven decisions making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SOLUTION: </a:t>
            </a:r>
            <a:r>
              <a:rPr lang="en-US" sz="2400" dirty="0"/>
              <a:t>Mobile app using Flutter &amp; FastAPI</a:t>
            </a:r>
          </a:p>
          <a:p>
            <a:endParaRPr lang="en-US" sz="2400" dirty="0"/>
          </a:p>
          <a:p>
            <a:r>
              <a:rPr lang="en-US" sz="2400" dirty="0"/>
              <a:t>Eugine Onyango Odhiambo | EBI/61390/22</a:t>
            </a:r>
          </a:p>
          <a:p>
            <a:r>
              <a:rPr lang="en-US" sz="2400" dirty="0"/>
              <a:t>COSC 482 | Supervisor: Bernard </a:t>
            </a:r>
            <a:r>
              <a:rPr lang="en-US" sz="2400" dirty="0" err="1"/>
              <a:t>Ongera</a:t>
            </a:r>
            <a:r>
              <a:rPr lang="en-US" sz="2400" dirty="0"/>
              <a:t> Osero</a:t>
            </a:r>
          </a:p>
        </p:txBody>
      </p:sp>
    </p:spTree>
    <p:extLst>
      <p:ext uri="{BB962C8B-B14F-4D97-AF65-F5344CB8AC3E}">
        <p14:creationId xmlns:p14="http://schemas.microsoft.com/office/powerpoint/2010/main" val="1304275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B8E4FA-604F-93DD-57ED-A937BB60853F}"/>
              </a:ext>
            </a:extLst>
          </p:cNvPr>
          <p:cNvSpPr txBox="1"/>
          <p:nvPr/>
        </p:nvSpPr>
        <p:spPr>
          <a:xfrm>
            <a:off x="0" y="0"/>
            <a:ext cx="12192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OBJECTIVES &amp; CORE FEATURES</a:t>
            </a:r>
          </a:p>
          <a:p>
            <a:endParaRPr lang="en-US" sz="2400" dirty="0"/>
          </a:p>
          <a:p>
            <a:r>
              <a:rPr lang="en-US" sz="2400" b="1" dirty="0"/>
              <a:t>GENERAL OBJECTIVE:</a:t>
            </a:r>
          </a:p>
          <a:p>
            <a:r>
              <a:rPr lang="en-US" sz="2400" dirty="0"/>
              <a:t>Design scalable mobile system to enhance efficiency, accuracy &amp; profitability</a:t>
            </a:r>
          </a:p>
          <a:p>
            <a:endParaRPr lang="en-US" sz="2400" dirty="0"/>
          </a:p>
          <a:p>
            <a:r>
              <a:rPr lang="en-US" sz="2400" b="1" dirty="0"/>
              <a:t>SPECIFIC OBJECTIVES:</a:t>
            </a:r>
          </a:p>
          <a:p>
            <a:r>
              <a:rPr lang="en-US" sz="2400" dirty="0"/>
              <a:t>1. Analyze Kenyan-specific requirements</a:t>
            </a:r>
          </a:p>
          <a:p>
            <a:r>
              <a:rPr lang="en-US" sz="2400" dirty="0"/>
              <a:t>2. Build async FastAPI backend + PostgreSQL HTAP</a:t>
            </a:r>
          </a:p>
          <a:p>
            <a:r>
              <a:rPr lang="en-US" sz="2400" dirty="0"/>
              <a:t>3. Develop Flutter cross-platform app</a:t>
            </a:r>
          </a:p>
          <a:p>
            <a:r>
              <a:rPr lang="en-US" sz="2400" dirty="0"/>
              <a:t>4. Create future-ready architecture</a:t>
            </a:r>
          </a:p>
          <a:p>
            <a:r>
              <a:rPr lang="en-US" sz="2400" dirty="0"/>
              <a:t>5. Rigorous testing &amp; evaluation</a:t>
            </a:r>
          </a:p>
          <a:p>
            <a:endParaRPr lang="en-US" sz="2400" dirty="0"/>
          </a:p>
          <a:p>
            <a:r>
              <a:rPr lang="en-US" sz="2400" b="1" dirty="0"/>
              <a:t>CORE FEATURES:</a:t>
            </a:r>
          </a:p>
          <a:p>
            <a:r>
              <a:rPr lang="en-US" sz="2400" dirty="0"/>
              <a:t>•  Inventory (Individual + Batch tracking)</a:t>
            </a:r>
          </a:p>
          <a:p>
            <a:r>
              <a:rPr lang="en-US" sz="2400" dirty="0"/>
              <a:t>• Health monitoring with audit trails</a:t>
            </a:r>
          </a:p>
          <a:p>
            <a:r>
              <a:rPr lang="en-US" sz="2400" dirty="0"/>
              <a:t>• Feed consumption &amp; FCR calculation</a:t>
            </a:r>
          </a:p>
          <a:p>
            <a:r>
              <a:rPr lang="en-US" sz="2400" dirty="0"/>
              <a:t>• Financial expense tracking</a:t>
            </a:r>
          </a:p>
        </p:txBody>
      </p:sp>
    </p:spTree>
    <p:extLst>
      <p:ext uri="{BB962C8B-B14F-4D97-AF65-F5344CB8AC3E}">
        <p14:creationId xmlns:p14="http://schemas.microsoft.com/office/powerpoint/2010/main" val="2169308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D48D70-A449-5B8A-8096-C67D8B030A96}"/>
              </a:ext>
            </a:extLst>
          </p:cNvPr>
          <p:cNvSpPr txBox="1"/>
          <p:nvPr/>
        </p:nvSpPr>
        <p:spPr>
          <a:xfrm>
            <a:off x="0" y="0"/>
            <a:ext cx="121920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SYSTEM REQUIREMENTS SUMMARY</a:t>
            </a:r>
          </a:p>
          <a:p>
            <a:endParaRPr lang="en-US" sz="2800" dirty="0"/>
          </a:p>
          <a:p>
            <a:r>
              <a:rPr lang="en-US" sz="2800" b="1" dirty="0"/>
              <a:t>FUNCTIONAL:</a:t>
            </a:r>
          </a:p>
          <a:p>
            <a:r>
              <a:rPr lang="en-US" sz="2800" dirty="0"/>
              <a:t>1. Inventory Management (individuals + batches)</a:t>
            </a:r>
          </a:p>
          <a:p>
            <a:r>
              <a:rPr lang="en-US" sz="2800" dirty="0"/>
              <a:t>2. Expense Tracking (categorized &amp; linked)</a:t>
            </a:r>
          </a:p>
          <a:p>
            <a:r>
              <a:rPr lang="en-US" sz="2800" dirty="0"/>
              <a:t>3. Feed Consumption (FCR calculation)</a:t>
            </a:r>
          </a:p>
          <a:p>
            <a:r>
              <a:rPr lang="en-US" sz="2800" dirty="0"/>
              <a:t>4. Health Monitoring (complete audit trail)</a:t>
            </a:r>
          </a:p>
          <a:p>
            <a:r>
              <a:rPr lang="en-US" sz="2800" dirty="0"/>
              <a:t>5. Reporting (financial + herd analytics)</a:t>
            </a:r>
          </a:p>
          <a:p>
            <a:endParaRPr lang="en-US" sz="2800" dirty="0"/>
          </a:p>
          <a:p>
            <a:r>
              <a:rPr lang="en-US" sz="2800" b="1" dirty="0"/>
              <a:t>NON-FUNCTIONAL:</a:t>
            </a:r>
          </a:p>
          <a:p>
            <a:r>
              <a:rPr lang="en-US" sz="2800" dirty="0"/>
              <a:t>• Usability: Simple for farmers with moderate digital literacy</a:t>
            </a:r>
          </a:p>
          <a:p>
            <a:r>
              <a:rPr lang="en-US" sz="2800" dirty="0"/>
              <a:t>• Performance: FastAPI async for low latency</a:t>
            </a:r>
          </a:p>
          <a:p>
            <a:r>
              <a:rPr lang="en-US" sz="2800" dirty="0"/>
              <a:t>• Security: Authentication + data encryption</a:t>
            </a:r>
          </a:p>
          <a:p>
            <a:r>
              <a:rPr lang="en-US" sz="2800" dirty="0"/>
              <a:t>• Scalability: Ready for IoT/ML integration</a:t>
            </a:r>
          </a:p>
        </p:txBody>
      </p:sp>
    </p:spTree>
    <p:extLst>
      <p:ext uri="{BB962C8B-B14F-4D97-AF65-F5344CB8AC3E}">
        <p14:creationId xmlns:p14="http://schemas.microsoft.com/office/powerpoint/2010/main" val="1245676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C88BC5-81A7-9B74-A1BB-2E4E7458C3E0}"/>
              </a:ext>
            </a:extLst>
          </p:cNvPr>
          <p:cNvSpPr txBox="1"/>
          <p:nvPr/>
        </p:nvSpPr>
        <p:spPr>
          <a:xfrm>
            <a:off x="0" y="0"/>
            <a:ext cx="12192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TECHNICAL INNOVATION</a:t>
            </a:r>
          </a:p>
          <a:p>
            <a:endParaRPr lang="en-US" sz="2800" dirty="0"/>
          </a:p>
          <a:p>
            <a:r>
              <a:rPr lang="en-US" sz="2800" b="1" dirty="0"/>
              <a:t>3-TIER ARCHITECTURE:</a:t>
            </a:r>
          </a:p>
          <a:p>
            <a:r>
              <a:rPr lang="en-US" sz="2800" dirty="0"/>
              <a:t>1</a:t>
            </a:r>
            <a:r>
              <a:rPr lang="en-US" sz="2800" i="1" dirty="0"/>
              <a:t>. PRESENTATION: </a:t>
            </a:r>
            <a:r>
              <a:rPr lang="en-US" sz="2800" dirty="0"/>
              <a:t>Flutter Mobile App</a:t>
            </a:r>
          </a:p>
          <a:p>
            <a:r>
              <a:rPr lang="en-US" sz="2800" dirty="0"/>
              <a:t>   • Cross-platform (Android/iOS)</a:t>
            </a:r>
          </a:p>
          <a:p>
            <a:r>
              <a:rPr lang="en-US" sz="2800" dirty="0"/>
              <a:t>   • Simple, intuitive interface</a:t>
            </a:r>
          </a:p>
          <a:p>
            <a:endParaRPr lang="en-US" sz="2800" dirty="0"/>
          </a:p>
          <a:p>
            <a:r>
              <a:rPr lang="en-US" sz="2800" dirty="0"/>
              <a:t>2. </a:t>
            </a:r>
            <a:r>
              <a:rPr lang="en-US" sz="2800" i="1" dirty="0"/>
              <a:t>APPLICATION: </a:t>
            </a:r>
            <a:r>
              <a:rPr lang="en-US" sz="2800" dirty="0"/>
              <a:t>FastAPI Backend</a:t>
            </a:r>
          </a:p>
          <a:p>
            <a:r>
              <a:rPr lang="en-US" sz="2800" dirty="0"/>
              <a:t>   • Async-first for high performance</a:t>
            </a:r>
          </a:p>
          <a:p>
            <a:r>
              <a:rPr lang="en-US" sz="2800" dirty="0"/>
              <a:t>   • Business logic &amp; authentication</a:t>
            </a:r>
          </a:p>
          <a:p>
            <a:endParaRPr lang="en-US" sz="2800" dirty="0"/>
          </a:p>
          <a:p>
            <a:r>
              <a:rPr lang="en-US" sz="2800" dirty="0"/>
              <a:t>3. </a:t>
            </a:r>
            <a:r>
              <a:rPr lang="en-US" sz="2800" i="1" dirty="0"/>
              <a:t>DATA: </a:t>
            </a:r>
            <a:r>
              <a:rPr lang="en-US" sz="2800" dirty="0"/>
              <a:t>PostgreSQL with HTAP</a:t>
            </a:r>
          </a:p>
          <a:p>
            <a:r>
              <a:rPr lang="en-US" sz="2800" dirty="0"/>
              <a:t>   • Hybrid Transactional/Analytical Processing</a:t>
            </a:r>
          </a:p>
          <a:p>
            <a:r>
              <a:rPr lang="en-US" sz="2800" dirty="0"/>
              <a:t>   • Individual tracking + batch analytics simultaneously</a:t>
            </a:r>
          </a:p>
          <a:p>
            <a:endParaRPr lang="en-US" sz="2800" dirty="0"/>
          </a:p>
          <a:p>
            <a:r>
              <a:rPr lang="en-US" sz="2800" dirty="0"/>
              <a:t>KEY INNOVATION: Database handles real-time &amp; analytical queries together</a:t>
            </a:r>
          </a:p>
        </p:txBody>
      </p:sp>
    </p:spTree>
    <p:extLst>
      <p:ext uri="{BB962C8B-B14F-4D97-AF65-F5344CB8AC3E}">
        <p14:creationId xmlns:p14="http://schemas.microsoft.com/office/powerpoint/2010/main" val="365122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41EFEF-5FA9-6294-1E94-12B3C51061CD}"/>
              </a:ext>
            </a:extLst>
          </p:cNvPr>
          <p:cNvSpPr txBox="1"/>
          <p:nvPr/>
        </p:nvSpPr>
        <p:spPr>
          <a:xfrm>
            <a:off x="0" y="0"/>
            <a:ext cx="1219200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DEVELOPMENT APPROACH</a:t>
            </a:r>
          </a:p>
          <a:p>
            <a:endParaRPr lang="en-US" sz="2200" dirty="0"/>
          </a:p>
          <a:p>
            <a:r>
              <a:rPr lang="en-US" sz="2200" b="1" dirty="0"/>
              <a:t>METHODOLOGY: </a:t>
            </a:r>
            <a:r>
              <a:rPr lang="en-US" sz="2200" dirty="0"/>
              <a:t>Agile-Scrum (2-week sprints)</a:t>
            </a:r>
          </a:p>
          <a:p>
            <a:endParaRPr lang="en-US" sz="2200" dirty="0"/>
          </a:p>
          <a:p>
            <a:r>
              <a:rPr lang="en-US" sz="2200" b="1" dirty="0"/>
              <a:t>6-MONTH TIMELINE:</a:t>
            </a:r>
          </a:p>
          <a:p>
            <a:r>
              <a:rPr lang="en-US" sz="2200" b="1" dirty="0"/>
              <a:t>MONTH 1-2: Foundation</a:t>
            </a:r>
          </a:p>
          <a:p>
            <a:r>
              <a:rPr lang="en-US" sz="2200" dirty="0"/>
              <a:t>• Requirements &amp; database design</a:t>
            </a:r>
          </a:p>
          <a:p>
            <a:r>
              <a:rPr lang="en-US" sz="2200" dirty="0"/>
              <a:t>• Core API development</a:t>
            </a:r>
          </a:p>
          <a:p>
            <a:endParaRPr lang="en-US" sz="2200" dirty="0"/>
          </a:p>
          <a:p>
            <a:r>
              <a:rPr lang="en-US" sz="2200" b="1" dirty="0"/>
              <a:t>MONTH 3-4</a:t>
            </a:r>
            <a:r>
              <a:rPr lang="en-US" sz="2200" dirty="0"/>
              <a:t>: Core Features</a:t>
            </a:r>
          </a:p>
          <a:p>
            <a:r>
              <a:rPr lang="en-US" sz="2200" dirty="0"/>
              <a:t>• Flutter app development</a:t>
            </a:r>
          </a:p>
          <a:p>
            <a:r>
              <a:rPr lang="en-US" sz="2200" dirty="0"/>
              <a:t>• Inventory &amp; finance modules</a:t>
            </a:r>
          </a:p>
          <a:p>
            <a:endParaRPr lang="en-US" sz="2200" dirty="0"/>
          </a:p>
          <a:p>
            <a:r>
              <a:rPr lang="en-US" sz="2200" b="1" dirty="0"/>
              <a:t>MONTH 5: </a:t>
            </a:r>
            <a:r>
              <a:rPr lang="en-US" sz="2200" dirty="0"/>
              <a:t>Testing &amp; Polish</a:t>
            </a:r>
          </a:p>
          <a:p>
            <a:r>
              <a:rPr lang="en-US" sz="2200" dirty="0"/>
              <a:t>• User acceptance testing</a:t>
            </a:r>
          </a:p>
          <a:p>
            <a:r>
              <a:rPr lang="en-US" sz="2200" dirty="0"/>
              <a:t>• Performance optimization</a:t>
            </a:r>
          </a:p>
          <a:p>
            <a:endParaRPr lang="en-US" sz="2200" dirty="0"/>
          </a:p>
          <a:p>
            <a:r>
              <a:rPr lang="en-US" sz="2200" b="1" dirty="0"/>
              <a:t>MONTH 6: </a:t>
            </a:r>
            <a:r>
              <a:rPr lang="en-US" sz="2200" dirty="0"/>
              <a:t>Delivery</a:t>
            </a:r>
          </a:p>
          <a:p>
            <a:r>
              <a:rPr lang="en-US" sz="2200" dirty="0"/>
              <a:t>• Final documentation &amp; deployment</a:t>
            </a:r>
          </a:p>
        </p:txBody>
      </p:sp>
    </p:spTree>
    <p:extLst>
      <p:ext uri="{BB962C8B-B14F-4D97-AF65-F5344CB8AC3E}">
        <p14:creationId xmlns:p14="http://schemas.microsoft.com/office/powerpoint/2010/main" val="278864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F4CF19-7BD6-1310-0245-646A6AEE0A87}"/>
              </a:ext>
            </a:extLst>
          </p:cNvPr>
          <p:cNvSpPr txBox="1"/>
          <p:nvPr/>
        </p:nvSpPr>
        <p:spPr>
          <a:xfrm>
            <a:off x="0" y="1"/>
            <a:ext cx="12192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SCALABLE &amp; FUTURE-READY</a:t>
            </a:r>
          </a:p>
          <a:p>
            <a:endParaRPr lang="en-US" sz="2800" dirty="0"/>
          </a:p>
          <a:p>
            <a:r>
              <a:rPr lang="en-US" sz="2800" b="1" dirty="0"/>
              <a:t>PHASE I (Current):</a:t>
            </a:r>
          </a:p>
          <a:p>
            <a:r>
              <a:rPr lang="en-US" sz="2800" dirty="0"/>
              <a:t>• Complete livestock management system</a:t>
            </a:r>
          </a:p>
          <a:p>
            <a:r>
              <a:rPr lang="en-US" sz="2800" dirty="0"/>
              <a:t>• Scalable 3-tier architecture</a:t>
            </a:r>
          </a:p>
          <a:p>
            <a:endParaRPr lang="en-US" sz="2800" dirty="0"/>
          </a:p>
          <a:p>
            <a:r>
              <a:rPr lang="en-US" sz="2800" b="1" dirty="0"/>
              <a:t>READY FOR PHASE II:</a:t>
            </a:r>
          </a:p>
          <a:p>
            <a:r>
              <a:rPr lang="en-US" sz="2800" dirty="0"/>
              <a:t>• IoT INTEGRATION: Animal sensors, GPS tracking</a:t>
            </a:r>
          </a:p>
          <a:p>
            <a:r>
              <a:rPr lang="en-US" sz="2800" dirty="0"/>
              <a:t>• MACHINE LEARNING: Disease prediction, feed optimization</a:t>
            </a:r>
          </a:p>
          <a:p>
            <a:r>
              <a:rPr lang="en-US" sz="2800" dirty="0"/>
              <a:t>• ADVANCED ANALYTICS: Geo-spatial, predictive models</a:t>
            </a:r>
          </a:p>
          <a:p>
            <a:endParaRPr lang="en-US" sz="2800" dirty="0"/>
          </a:p>
          <a:p>
            <a:r>
              <a:rPr lang="en-US" sz="2800" dirty="0"/>
              <a:t>DESIGN PRINCIPLE: Build foundation today, integrate AI/IoT tomorrow</a:t>
            </a:r>
          </a:p>
        </p:txBody>
      </p:sp>
    </p:spTree>
    <p:extLst>
      <p:ext uri="{BB962C8B-B14F-4D97-AF65-F5344CB8AC3E}">
        <p14:creationId xmlns:p14="http://schemas.microsoft.com/office/powerpoint/2010/main" val="4223115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93FF3E-ACC0-51E0-C461-788B0527D943}"/>
              </a:ext>
            </a:extLst>
          </p:cNvPr>
          <p:cNvSpPr txBox="1"/>
          <p:nvPr/>
        </p:nvSpPr>
        <p:spPr>
          <a:xfrm>
            <a:off x="0" y="0"/>
            <a:ext cx="12192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WHY THIS PROJECT MATTERS</a:t>
            </a:r>
          </a:p>
          <a:p>
            <a:endParaRPr lang="en-US" sz="2400" dirty="0"/>
          </a:p>
          <a:p>
            <a:r>
              <a:rPr lang="en-US" sz="2400" b="1" dirty="0"/>
              <a:t>FOR FARMERS:</a:t>
            </a:r>
          </a:p>
          <a:p>
            <a:r>
              <a:rPr lang="en-US" sz="2400" dirty="0"/>
              <a:t>• Data-driven decisions → higher profits</a:t>
            </a:r>
          </a:p>
          <a:p>
            <a:r>
              <a:rPr lang="en-US" sz="2400" dirty="0"/>
              <a:t>• Better animal health → improved welfare</a:t>
            </a:r>
          </a:p>
          <a:p>
            <a:r>
              <a:rPr lang="en-US" sz="2400" dirty="0"/>
              <a:t>• Production and expense traction</a:t>
            </a:r>
          </a:p>
          <a:p>
            <a:endParaRPr lang="en-US" sz="2400" dirty="0"/>
          </a:p>
          <a:p>
            <a:r>
              <a:rPr lang="en-US" sz="2400" b="1" dirty="0"/>
              <a:t>FOR ACADEMIA:</a:t>
            </a:r>
          </a:p>
          <a:p>
            <a:r>
              <a:rPr lang="en-US" sz="2400" dirty="0"/>
              <a:t>• Practical software engineering demonstration</a:t>
            </a:r>
          </a:p>
          <a:p>
            <a:r>
              <a:rPr lang="en-US" sz="2400" dirty="0"/>
              <a:t>• Contribution to Kenya's agricultural digitization</a:t>
            </a:r>
          </a:p>
          <a:p>
            <a:endParaRPr lang="en-US" sz="2400" dirty="0"/>
          </a:p>
          <a:p>
            <a:r>
              <a:rPr lang="en-US" sz="2400" b="1" dirty="0"/>
              <a:t>FOR AGRI-TECH:</a:t>
            </a:r>
          </a:p>
          <a:p>
            <a:r>
              <a:rPr lang="en-US" sz="2400" dirty="0"/>
              <a:t>• African-context reference model(Aligns with Agriculture 5.0 )</a:t>
            </a:r>
          </a:p>
          <a:p>
            <a:r>
              <a:rPr lang="en-US" sz="2400" dirty="0"/>
              <a:t>• Addresses scalability gaps in existing solutions</a:t>
            </a:r>
          </a:p>
          <a:p>
            <a:endParaRPr lang="en-US" sz="2400" dirty="0"/>
          </a:p>
          <a:p>
            <a:r>
              <a:rPr lang="en-US" sz="2400" dirty="0"/>
              <a:t>CAREER VALUE: Mastery of Flutter, FastAPI, PostgreSQL - highly marketable skills</a:t>
            </a:r>
          </a:p>
        </p:txBody>
      </p:sp>
    </p:spTree>
    <p:extLst>
      <p:ext uri="{BB962C8B-B14F-4D97-AF65-F5344CB8AC3E}">
        <p14:creationId xmlns:p14="http://schemas.microsoft.com/office/powerpoint/2010/main" val="1617283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BBA48-C692-BA0F-1276-47984E890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402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 Expected Deliverables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70ADF-0CA6-090C-AA8B-E3224F42C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Software:</a:t>
            </a:r>
            <a:endParaRPr lang="en-US" dirty="0"/>
          </a:p>
          <a:p>
            <a:pPr lvl="1"/>
            <a:r>
              <a:rPr lang="en-US" sz="2800" dirty="0"/>
              <a:t>Working mobile app (Flutter)</a:t>
            </a:r>
          </a:p>
          <a:p>
            <a:pPr lvl="1"/>
            <a:r>
              <a:rPr lang="en-US" sz="2800" dirty="0"/>
              <a:t>High-performance API (FastAPI)</a:t>
            </a:r>
          </a:p>
          <a:p>
            <a:pPr lvl="1"/>
            <a:r>
              <a:rPr lang="en-US" sz="2800" dirty="0"/>
              <a:t>Optimized database (PostgreSQL HTAP)</a:t>
            </a:r>
          </a:p>
          <a:p>
            <a:r>
              <a:rPr lang="en-US" b="1" dirty="0"/>
              <a:t>Academic:</a:t>
            </a:r>
            <a:endParaRPr lang="en-US" dirty="0"/>
          </a:p>
          <a:p>
            <a:pPr lvl="1"/>
            <a:r>
              <a:rPr lang="en-US" sz="2800" dirty="0"/>
              <a:t>Full documentation</a:t>
            </a:r>
          </a:p>
          <a:p>
            <a:pPr lvl="1"/>
            <a:r>
              <a:rPr lang="en-US" sz="2800" dirty="0"/>
              <a:t>Source code with comments</a:t>
            </a:r>
          </a:p>
          <a:p>
            <a:pPr lvl="1"/>
            <a:r>
              <a:rPr lang="en-US" sz="2800" dirty="0"/>
              <a:t>Final report &amp; presentation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552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289D5F-B605-4130-C78F-CD274BF2DEB9}"/>
              </a:ext>
            </a:extLst>
          </p:cNvPr>
          <p:cNvSpPr txBox="1"/>
          <p:nvPr/>
        </p:nvSpPr>
        <p:spPr>
          <a:xfrm>
            <a:off x="0" y="1"/>
            <a:ext cx="12192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CONCLUSION</a:t>
            </a:r>
          </a:p>
          <a:p>
            <a:endParaRPr lang="en-US" sz="2800" dirty="0"/>
          </a:p>
          <a:p>
            <a:r>
              <a:rPr lang="en-US" sz="2800" b="1" dirty="0"/>
              <a:t>SUMMARY:</a:t>
            </a:r>
          </a:p>
          <a:p>
            <a:r>
              <a:rPr lang="en-US" sz="2800" dirty="0"/>
              <a:t>• Mobile solution for real Kenyan farming challenges</a:t>
            </a:r>
          </a:p>
          <a:p>
            <a:r>
              <a:rPr lang="en-US" sz="2800" dirty="0"/>
              <a:t>• Hybrid database for granular + aggregated tracking</a:t>
            </a:r>
          </a:p>
          <a:p>
            <a:r>
              <a:rPr lang="en-US" sz="2800" dirty="0"/>
              <a:t>• Future-ready architecture for IoT/AI integration</a:t>
            </a:r>
          </a:p>
          <a:p>
            <a:endParaRPr lang="en-US" sz="2800" dirty="0"/>
          </a:p>
          <a:p>
            <a:r>
              <a:rPr lang="en-US" sz="2800" b="1" dirty="0"/>
              <a:t>KEY ACHIEVEMENTS:</a:t>
            </a:r>
          </a:p>
          <a:p>
            <a:r>
              <a:rPr lang="en-US" sz="2800" dirty="0"/>
              <a:t>1. Solves critical record-keeping problem</a:t>
            </a:r>
          </a:p>
          <a:p>
            <a:r>
              <a:rPr lang="en-US" sz="2800" dirty="0"/>
              <a:t>2. Modern, high-performance tech stack</a:t>
            </a:r>
          </a:p>
          <a:p>
            <a:r>
              <a:rPr lang="en-US" sz="2800" dirty="0"/>
              <a:t>3. Designed for African smallholder context</a:t>
            </a:r>
          </a:p>
          <a:p>
            <a:r>
              <a:rPr lang="en-US" sz="2800" dirty="0"/>
              <a:t>4. Pathway to precision livestock farming</a:t>
            </a:r>
          </a:p>
          <a:p>
            <a:endParaRPr lang="en-US" sz="2800" dirty="0"/>
          </a:p>
          <a:p>
            <a:r>
              <a:rPr lang="en-US" sz="2800" dirty="0"/>
              <a:t>THANK YOU</a:t>
            </a:r>
          </a:p>
          <a:p>
            <a:r>
              <a:rPr lang="en-US" sz="2800" dirty="0"/>
              <a:t>Questions &amp; Discussion &amp; Answers</a:t>
            </a:r>
          </a:p>
        </p:txBody>
      </p:sp>
    </p:spTree>
    <p:extLst>
      <p:ext uri="{BB962C8B-B14F-4D97-AF65-F5344CB8AC3E}">
        <p14:creationId xmlns:p14="http://schemas.microsoft.com/office/powerpoint/2010/main" val="3943489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32499C-16E7-273C-A0D9-24A1C2E5E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6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80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684C04-2FCD-F735-CADA-D4EC5305A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3976"/>
            <a:ext cx="12192000" cy="337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074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34A2B7-A8A3-9F14-FCDF-0842B4941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447" y="0"/>
            <a:ext cx="464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823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639</Words>
  <Application>Microsoft Office PowerPoint</Application>
  <PresentationFormat>Widescreen</PresentationFormat>
  <Paragraphs>135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 Expected Deliverables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Eugene</dc:creator>
  <cp:lastModifiedBy>Eugene</cp:lastModifiedBy>
  <cp:revision>6</cp:revision>
  <dcterms:created xsi:type="dcterms:W3CDTF">2025-12-01T07:04:17Z</dcterms:created>
  <dcterms:modified xsi:type="dcterms:W3CDTF">2025-12-02T06:00:01Z</dcterms:modified>
</cp:coreProperties>
</file>